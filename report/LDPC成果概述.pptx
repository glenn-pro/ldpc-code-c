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2" r:id="rId4"/>
    <p:sldId id="263" r:id="rId5"/>
    <p:sldId id="264" r:id="rId6"/>
    <p:sldId id="266" r:id="rId7"/>
    <p:sldId id="25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55" autoAdjust="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4B3B7-58FA-4A2A-A787-3CCB1DAAD35D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BBF65-1602-463F-8205-14E06E20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55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講義用</a:t>
            </a:r>
            <a:r>
              <a:rPr lang="en-US" altLang="zh-TW" dirty="0"/>
              <a:t>-1^x 0-&gt;1  1-&gt;-1  </a:t>
            </a:r>
            <a:r>
              <a:rPr lang="zh-TW" altLang="en-US" dirty="0"/>
              <a:t>顛倒過來用 </a:t>
            </a:r>
            <a:r>
              <a:rPr lang="en-US" altLang="zh-TW" dirty="0"/>
              <a:t>0-&gt;-1</a:t>
            </a:r>
            <a:r>
              <a:rPr lang="zh-TW" altLang="en-US" dirty="0"/>
              <a:t>  </a:t>
            </a:r>
            <a:r>
              <a:rPr lang="en-US" altLang="zh-TW" dirty="0"/>
              <a:t>1-&gt;1ok  </a:t>
            </a:r>
            <a:r>
              <a:rPr lang="zh-TW" altLang="en-US" dirty="0"/>
              <a:t>後驗</a:t>
            </a:r>
            <a:r>
              <a:rPr lang="en-US" altLang="zh-TW" dirty="0"/>
              <a:t>LLR</a:t>
            </a:r>
            <a:r>
              <a:rPr lang="zh-TW" altLang="en-US" dirty="0"/>
              <a:t>判決 </a:t>
            </a:r>
            <a:r>
              <a:rPr lang="en-US" altLang="zh-TW" dirty="0"/>
              <a:t>&gt;0</a:t>
            </a:r>
            <a:r>
              <a:rPr lang="zh-TW" altLang="en-US" dirty="0"/>
              <a:t>要改</a:t>
            </a:r>
            <a:r>
              <a:rPr lang="en-US" altLang="zh-TW" dirty="0"/>
              <a:t>1</a:t>
            </a:r>
            <a:r>
              <a:rPr lang="zh-TW" altLang="en-US" dirty="0"/>
              <a:t>  </a:t>
            </a:r>
            <a:r>
              <a:rPr lang="en-US" altLang="zh-TW" dirty="0"/>
              <a:t>&lt;0</a:t>
            </a:r>
            <a:r>
              <a:rPr lang="zh-TW" altLang="en-US" dirty="0"/>
              <a:t>改</a:t>
            </a:r>
            <a:r>
              <a:rPr lang="en-US" altLang="zh-TW" dirty="0"/>
              <a:t>-1</a:t>
            </a:r>
            <a:br>
              <a:rPr lang="en-US" altLang="zh-TW" dirty="0"/>
            </a:br>
            <a:r>
              <a:rPr lang="zh-TW" altLang="en-US" dirty="0"/>
              <a:t>鄰接表測</a:t>
            </a:r>
            <a:r>
              <a:rPr lang="en-US" altLang="zh-TW" dirty="0"/>
              <a:t>syndrome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BBF65-1602-463F-8205-14E06E20404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89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BBF65-1602-463F-8205-14E06E20404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473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時間複雜度 </a:t>
            </a:r>
            <a:r>
              <a:rPr lang="en-US" altLang="zh-TW" b="1" dirty="0"/>
              <a:t>O(N·DEG)</a:t>
            </a:r>
            <a:r>
              <a:rPr lang="en-US" altLang="zh-TW" dirty="0"/>
              <a:t> </a:t>
            </a:r>
            <a:r>
              <a:rPr lang="zh-TW" altLang="en-US"/>
              <a:t> </a:t>
            </a:r>
            <a:r>
              <a:rPr lang="en-US" altLang="zh-TW" b="1"/>
              <a:t>O</a:t>
            </a:r>
            <a:r>
              <a:rPr lang="en-US" altLang="zh-TW" b="1" dirty="0"/>
              <a:t>(N·DEG²)</a:t>
            </a:r>
            <a:br>
              <a:rPr lang="en-US" altLang="zh-TW" dirty="0"/>
            </a:br>
            <a:r>
              <a:rPr lang="zh-TW" altLang="en-US" dirty="0"/>
              <a:t>省</a:t>
            </a:r>
            <a:r>
              <a:rPr lang="en-US" altLang="zh-TW" dirty="0"/>
              <a:t>40%</a:t>
            </a:r>
            <a:r>
              <a:rPr lang="zh-TW" altLang="en-US" dirty="0"/>
              <a:t>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BBF65-1602-463F-8205-14E06E20404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395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MSA2.2</a:t>
            </a:r>
            <a:r>
              <a:rPr lang="zh-TW" altLang="en-US" dirty="0"/>
              <a:t>  </a:t>
            </a:r>
            <a:r>
              <a:rPr lang="en-US" altLang="zh-TW" dirty="0"/>
              <a:t>SPA1.6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BBF65-1602-463F-8205-14E06E20404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97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B4A0A4-7161-20CD-BE5E-19575F52C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0B4B02-25D1-1910-3EE2-4305961B7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00FBB-7837-FC31-C09A-3EFCDC65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A38DC6-40F8-EEBA-FA84-64606928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F822BF-EC65-DDE4-1CFB-01C57FC2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76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5F8FF-4B20-D75B-7BFB-78D0FF07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A7D31-BF12-7A8F-0190-13409F09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C1814-CBDF-DD79-6389-7F30F08D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D8DD77-7894-F87E-466A-9B93D0C7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D6060F-F326-8D5E-44CF-B5079911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62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239AB-6CBA-97CE-81F9-17D986E1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BAEAD0-7DD1-1624-CF41-10ACCAF90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95A241-0C71-141D-3523-7DABD1F3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D0BC25-EF04-93CC-C8DB-86348725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7CD431-87F7-391B-BEDB-81783CA5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68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426EF0-F5DE-1F27-E59F-2A88BF0F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139F8C-807C-B145-D4E3-41A74CAE9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B26422-2BA3-CA3F-0333-066CED514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B198D3-D7BB-35A4-8B8D-F911B20D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D898B6-0FA1-3DDD-8CEE-E848B196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809CDF-7A27-5080-DEB6-36777060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85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E515EC-2A57-FA2F-80E7-E90B006B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BB0E33-C9AE-7434-054A-D46F97152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915078-3B40-D773-3A57-2F01B835A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3EADDB2-F985-EA2C-8649-C3CA14F2B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FC4C259-BB11-211D-71E8-CB7EFABF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B4FBDB-A0F2-6074-403B-16A44AEF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5E8BBBA-0AC7-1C60-3F05-85D0D9B9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0BED450-358F-4AFC-A39F-CDC4E182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93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459BA1-908F-BEFE-A7DB-E5892AF0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642A49-DB88-E6C8-D40F-C2C5944D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56CAF5-54C3-1E00-67FF-38DD0BC4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A9DE25-EF64-C1CD-AC95-764ABFFE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77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AAAA776-4F44-8ACF-329F-9FDF6364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851460-4F89-0D2D-4227-BA47B8CD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E12694-F449-E08F-B00E-C028F3FB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68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DA27AF-5390-B493-FF64-8A395E1D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4C8097-8AB7-4CDB-D0D1-3AD1D0B5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9C5579-3C0C-32B9-1C8A-C60D657B5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ADCEE5-14C2-652B-3F96-004D629B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9E6FC6-7D3B-37E9-89D1-211AE9C2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0A20F3-0F8B-631C-4F25-75836EC0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25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3DEFD-DE90-E226-D9A3-01E691CE3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FC4676-CE09-1D4A-01FE-B3FF6200B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594C8A-1ED5-923F-D7D6-77333B25F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B64FBE-5300-E624-8F94-CB22EDAD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E0BF45-01B1-6110-B7B9-B6E947E5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974FA1-A5B4-CC86-6652-F52445CB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02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3B51E-E237-0315-CFF8-59BF054B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0F18D5-2614-E3F8-7EA0-8673B3563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48C8BA-4D3F-300F-70E2-05654696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EE7EED-B311-90D7-DDF2-1AA9688E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F79C6-1268-0F66-F654-AE21CD1A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34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04BCD4-F23C-CFE4-D3A0-8C96DFAF2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FF56270-23B3-2536-CE30-EFA9F5DF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7EF9F8-3D32-2A0A-3BFE-C7D07BE8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D2692-1225-942B-882D-CAC71BB8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416764-3FDF-B131-BC22-A1D4D9C5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88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9FF2E4C-8D2D-2B00-15A0-BA96B00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2CC7AF-9625-8F92-93F3-B0AD2A84E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D32924-77A3-6E91-3F5C-045852A61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F5EBE-A9AE-4CF8-B1D4-CB49919281C8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6A3D2B-9CE1-9687-DE8F-FD166B279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A2EB73-6267-E3F1-4014-1D2B40AEA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7AB1A-E0DF-4361-B108-20EBF0C62B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47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90EC13-0EB4-20AF-BA92-F00DF138F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909" y="747252"/>
            <a:ext cx="9016181" cy="1278040"/>
          </a:xfrm>
        </p:spPr>
        <p:txBody>
          <a:bodyPr/>
          <a:lstStyle/>
          <a:p>
            <a:r>
              <a:rPr lang="en-US" altLang="zh-TW" dirty="0"/>
              <a:t>LDPC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64C5C0A-DE41-0C18-1442-24DDCD3DE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0400" y="6039628"/>
            <a:ext cx="3444240" cy="467852"/>
          </a:xfrm>
        </p:spPr>
        <p:txBody>
          <a:bodyPr/>
          <a:lstStyle/>
          <a:p>
            <a:r>
              <a:rPr lang="en-US" altLang="zh-TW" dirty="0"/>
              <a:t>114523057</a:t>
            </a:r>
            <a:r>
              <a:rPr lang="zh-TW" altLang="en-US" dirty="0"/>
              <a:t> 楊善承</a:t>
            </a:r>
          </a:p>
        </p:txBody>
      </p:sp>
    </p:spTree>
    <p:extLst>
      <p:ext uri="{BB962C8B-B14F-4D97-AF65-F5344CB8AC3E}">
        <p14:creationId xmlns:p14="http://schemas.microsoft.com/office/powerpoint/2010/main" val="158848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一張含有 文字, 螢幕擷取畫面, 字型, 圓形 的圖片&#10;&#10;AI 產生的內容可能不正確。">
            <a:extLst>
              <a:ext uri="{FF2B5EF4-FFF2-40B4-BE49-F238E27FC236}">
                <a16:creationId xmlns:a16="http://schemas.microsoft.com/office/drawing/2014/main" id="{2059CC1F-20B7-C21C-5E9F-B99282932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9038" y="1087120"/>
            <a:ext cx="11535339" cy="444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19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34203F4-0442-E94D-BA4B-68B64750F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30" y="180521"/>
            <a:ext cx="9240540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9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086FABF-71AB-FEE9-F3FE-410476649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56" y="828040"/>
            <a:ext cx="11397087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6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E40F9BF3-0F69-5B62-62AC-D78B1E687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332119"/>
              </p:ext>
            </p:extLst>
          </p:nvPr>
        </p:nvGraphicFramePr>
        <p:xfrm>
          <a:off x="221064" y="140677"/>
          <a:ext cx="11826909" cy="64007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52689">
                  <a:extLst>
                    <a:ext uri="{9D8B030D-6E8A-4147-A177-3AD203B41FA5}">
                      <a16:colId xmlns:a16="http://schemas.microsoft.com/office/drawing/2014/main" val="2078243420"/>
                    </a:ext>
                  </a:extLst>
                </a:gridCol>
                <a:gridCol w="1460346">
                  <a:extLst>
                    <a:ext uri="{9D8B030D-6E8A-4147-A177-3AD203B41FA5}">
                      <a16:colId xmlns:a16="http://schemas.microsoft.com/office/drawing/2014/main" val="914861268"/>
                    </a:ext>
                  </a:extLst>
                </a:gridCol>
                <a:gridCol w="2038399">
                  <a:extLst>
                    <a:ext uri="{9D8B030D-6E8A-4147-A177-3AD203B41FA5}">
                      <a16:colId xmlns:a16="http://schemas.microsoft.com/office/drawing/2014/main" val="1833597517"/>
                    </a:ext>
                  </a:extLst>
                </a:gridCol>
                <a:gridCol w="1460346">
                  <a:extLst>
                    <a:ext uri="{9D8B030D-6E8A-4147-A177-3AD203B41FA5}">
                      <a16:colId xmlns:a16="http://schemas.microsoft.com/office/drawing/2014/main" val="1668448476"/>
                    </a:ext>
                  </a:extLst>
                </a:gridCol>
                <a:gridCol w="1295885">
                  <a:extLst>
                    <a:ext uri="{9D8B030D-6E8A-4147-A177-3AD203B41FA5}">
                      <a16:colId xmlns:a16="http://schemas.microsoft.com/office/drawing/2014/main" val="618754644"/>
                    </a:ext>
                  </a:extLst>
                </a:gridCol>
                <a:gridCol w="1916703">
                  <a:extLst>
                    <a:ext uri="{9D8B030D-6E8A-4147-A177-3AD203B41FA5}">
                      <a16:colId xmlns:a16="http://schemas.microsoft.com/office/drawing/2014/main" val="3619302135"/>
                    </a:ext>
                  </a:extLst>
                </a:gridCol>
                <a:gridCol w="1295885">
                  <a:extLst>
                    <a:ext uri="{9D8B030D-6E8A-4147-A177-3AD203B41FA5}">
                      <a16:colId xmlns:a16="http://schemas.microsoft.com/office/drawing/2014/main" val="487527999"/>
                    </a:ext>
                  </a:extLst>
                </a:gridCol>
                <a:gridCol w="1306656">
                  <a:extLst>
                    <a:ext uri="{9D8B030D-6E8A-4147-A177-3AD203B41FA5}">
                      <a16:colId xmlns:a16="http://schemas.microsoft.com/office/drawing/2014/main" val="2130456881"/>
                    </a:ext>
                  </a:extLst>
                </a:gridCol>
              </a:tblGrid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Algo</a:t>
                      </a:r>
                      <a:endParaRPr lang="en-US" sz="1400" b="1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SNR_dB</a:t>
                      </a:r>
                      <a:endParaRPr lang="en-US" sz="1400" b="1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DecodedBits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BitErrors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BER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BlocksTried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BLER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Sec</a:t>
                      </a:r>
                      <a:endParaRPr lang="en-US" sz="1400" b="1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b"/>
                </a:tc>
                <a:extLst>
                  <a:ext uri="{0D108BD9-81ED-4DB2-BD59-A6C34878D82A}">
                    <a16:rowId xmlns:a16="http://schemas.microsoft.com/office/drawing/2014/main" val="3490457728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78881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5449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6.91E-02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101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9.90E-01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19.859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721321066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1.8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82005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5076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6.19E-02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105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9.52E-01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22.667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651003438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87472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4712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5.39E-02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8.93E-01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22.766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863055280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110902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4384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3.95E-02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142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7.04E-01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23.481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004470436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2.4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167915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4141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2.47E-02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215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4.65E-01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25.45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366617848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370194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4121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1.11E-02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474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2.11E-01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30.629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765319749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2.8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913770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4161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4.55E-03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1170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8.55E-02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41.382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863376787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3277076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4178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1.27E-03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4196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2.38E-02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83.75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624930190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10396672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4658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4.48E-04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13312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7.51E-03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214.766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2496278382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3.4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39024227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4171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1.07E-04</a:t>
                      </a:r>
                      <a:endParaRPr lang="en-US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49967</a:t>
                      </a:r>
                      <a:endParaRPr lang="en-US" altLang="zh-TW" sz="1400" b="0" i="0" u="none" strike="noStrike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2.00E-03</a:t>
                      </a:r>
                      <a:endParaRPr lang="en-US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444.154</a:t>
                      </a:r>
                      <a:endParaRPr lang="en-US" altLang="zh-TW" sz="14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76436" marR="9676" marT="88218" marB="88218" anchor="ctr"/>
                </a:tc>
                <a:extLst>
                  <a:ext uri="{0D108BD9-81ED-4DB2-BD59-A6C34878D82A}">
                    <a16:rowId xmlns:a16="http://schemas.microsoft.com/office/drawing/2014/main" val="3527921156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3.6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1.46E+08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4484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3.08E-05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186373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5.37E-04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1447.812</a:t>
                      </a:r>
                      <a:endParaRPr lang="en-US" altLang="zh-TW" sz="1400" b="0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extLst>
                  <a:ext uri="{0D108BD9-81ED-4DB2-BD59-A6C34878D82A}">
                    <a16:rowId xmlns:a16="http://schemas.microsoft.com/office/drawing/2014/main" val="750056634"/>
                  </a:ext>
                </a:extLst>
              </a:tr>
              <a:tr h="49236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SPA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3.8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6.18E+08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4394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7.11E-06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791781</a:t>
                      </a:r>
                      <a:endParaRPr lang="en-US" altLang="zh-TW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1.26E-04</a:t>
                      </a:r>
                      <a:endParaRPr lang="en-US" sz="1400" b="0" i="0" u="none" strike="noStrike" kern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5616.29</a:t>
                      </a:r>
                      <a:endParaRPr lang="en-US" altLang="zh-TW" sz="1400" b="0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76436" marR="7640" marT="88218" marB="88218" anchor="ctr"/>
                </a:tc>
                <a:extLst>
                  <a:ext uri="{0D108BD9-81ED-4DB2-BD59-A6C34878D82A}">
                    <a16:rowId xmlns:a16="http://schemas.microsoft.com/office/drawing/2014/main" val="1359176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55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6C77A-E0BA-2721-0126-A97E7061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D44304D-BB60-2742-28E5-C5CFF5E32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434508"/>
              </p:ext>
            </p:extLst>
          </p:nvPr>
        </p:nvGraphicFramePr>
        <p:xfrm>
          <a:off x="90433" y="80386"/>
          <a:ext cx="12007780" cy="660176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35099">
                  <a:extLst>
                    <a:ext uri="{9D8B030D-6E8A-4147-A177-3AD203B41FA5}">
                      <a16:colId xmlns:a16="http://schemas.microsoft.com/office/drawing/2014/main" val="2078243420"/>
                    </a:ext>
                  </a:extLst>
                </a:gridCol>
                <a:gridCol w="1617277">
                  <a:extLst>
                    <a:ext uri="{9D8B030D-6E8A-4147-A177-3AD203B41FA5}">
                      <a16:colId xmlns:a16="http://schemas.microsoft.com/office/drawing/2014/main" val="914861268"/>
                    </a:ext>
                  </a:extLst>
                </a:gridCol>
                <a:gridCol w="2178158">
                  <a:extLst>
                    <a:ext uri="{9D8B030D-6E8A-4147-A177-3AD203B41FA5}">
                      <a16:colId xmlns:a16="http://schemas.microsoft.com/office/drawing/2014/main" val="1833597517"/>
                    </a:ext>
                  </a:extLst>
                </a:gridCol>
                <a:gridCol w="1658101">
                  <a:extLst>
                    <a:ext uri="{9D8B030D-6E8A-4147-A177-3AD203B41FA5}">
                      <a16:colId xmlns:a16="http://schemas.microsoft.com/office/drawing/2014/main" val="1668448476"/>
                    </a:ext>
                  </a:extLst>
                </a:gridCol>
                <a:gridCol w="1013800">
                  <a:extLst>
                    <a:ext uri="{9D8B030D-6E8A-4147-A177-3AD203B41FA5}">
                      <a16:colId xmlns:a16="http://schemas.microsoft.com/office/drawing/2014/main" val="618754644"/>
                    </a:ext>
                  </a:extLst>
                </a:gridCol>
                <a:gridCol w="2098284">
                  <a:extLst>
                    <a:ext uri="{9D8B030D-6E8A-4147-A177-3AD203B41FA5}">
                      <a16:colId xmlns:a16="http://schemas.microsoft.com/office/drawing/2014/main" val="3619302135"/>
                    </a:ext>
                  </a:extLst>
                </a:gridCol>
                <a:gridCol w="1233893">
                  <a:extLst>
                    <a:ext uri="{9D8B030D-6E8A-4147-A177-3AD203B41FA5}">
                      <a16:colId xmlns:a16="http://schemas.microsoft.com/office/drawing/2014/main" val="487527999"/>
                    </a:ext>
                  </a:extLst>
                </a:gridCol>
                <a:gridCol w="1173168">
                  <a:extLst>
                    <a:ext uri="{9D8B030D-6E8A-4147-A177-3AD203B41FA5}">
                      <a16:colId xmlns:a16="http://schemas.microsoft.com/office/drawing/2014/main" val="2130456881"/>
                    </a:ext>
                  </a:extLst>
                </a:gridCol>
              </a:tblGrid>
              <a:tr h="80004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Algo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SNR_dB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DecodedBits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BitErrors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BER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BlocksTried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BLER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1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Sec</a:t>
                      </a:r>
                      <a:endParaRPr lang="en-US" sz="1400" b="1" i="0" u="none" strike="noStrike" kern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9439" marR="13029" marT="31268" marB="234512" anchor="b"/>
                </a:tc>
                <a:extLst>
                  <a:ext uri="{0D108BD9-81ED-4DB2-BD59-A6C34878D82A}">
                    <a16:rowId xmlns:a16="http://schemas.microsoft.com/office/drawing/2014/main" val="3490457728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89815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7934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8.83E-02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8.70E-01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36.568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721321066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152295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7704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5.06E-02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5.13E-01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37.369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3651003438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228833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7574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3.41E-01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38.423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863055280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484220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7590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1.57E-02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1.61E-01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41.295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3004470436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1797862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7765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4.32E-03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4.34E-02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55.831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3366617848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7243775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7237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9.99E-04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9275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1.08E-02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3765319749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47295798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7204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1.52E-04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60558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1.65E-03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458.748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3863376787"/>
                  </a:ext>
                </a:extLst>
              </a:tr>
              <a:tr h="7252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MSA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4.11E+08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7587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1.84E-05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526687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1.90E-04</a:t>
                      </a:r>
                    </a:p>
                  </a:txBody>
                  <a:tcPr marL="10287" marR="10287" marT="10287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u="none" strike="noStrike" kern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2593.282</a:t>
                      </a:r>
                    </a:p>
                  </a:txBody>
                  <a:tcPr marL="10287" marR="10287" marT="10287" marB="0" anchor="ctr"/>
                </a:tc>
                <a:extLst>
                  <a:ext uri="{0D108BD9-81ED-4DB2-BD59-A6C34878D82A}">
                    <a16:rowId xmlns:a16="http://schemas.microsoft.com/office/drawing/2014/main" val="134937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30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A3B5C94C-DDEC-1A67-DEF0-4593DAFD5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9" y="208587"/>
            <a:ext cx="5802061" cy="2927815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E68FB2B-0A0F-A579-AE80-EB9F4120B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88852" y="208587"/>
            <a:ext cx="6019959" cy="2927815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0F3DF4D0-2113-C0C9-5684-F1D3B2C45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34" y="3354246"/>
            <a:ext cx="5624947" cy="3089120"/>
          </a:xfrm>
          <a:prstGeom prst="rect">
            <a:avLst/>
          </a:prstGeom>
        </p:spPr>
      </p:pic>
      <p:pic>
        <p:nvPicPr>
          <p:cNvPr id="5" name="圖片 4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4B865E7B-8AFC-F179-BF4A-1436303DC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921" y="3354246"/>
            <a:ext cx="5837823" cy="30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84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257</Words>
  <Application>Microsoft Office PowerPoint</Application>
  <PresentationFormat>寬螢幕</PresentationFormat>
  <Paragraphs>185</Paragraphs>
  <Slides>7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Aptos</vt:lpstr>
      <vt:lpstr>Aptos Display</vt:lpstr>
      <vt:lpstr>Arial</vt:lpstr>
      <vt:lpstr>Office 佈景主題</vt:lpstr>
      <vt:lpstr>LDPC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楊善承 (114523057)</dc:creator>
  <cp:lastModifiedBy>楊善承 (114523057)</cp:lastModifiedBy>
  <cp:revision>27</cp:revision>
  <dcterms:created xsi:type="dcterms:W3CDTF">2025-10-28T08:04:57Z</dcterms:created>
  <dcterms:modified xsi:type="dcterms:W3CDTF">2026-03-10T10:39:59Z</dcterms:modified>
</cp:coreProperties>
</file>